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Now Bold" charset="1" panose="020B0804030202020204"/>
      <p:regular r:id="rId15"/>
    </p:embeddedFont>
    <p:embeddedFont>
      <p:font typeface="Helvetica Now" charset="1" panose="020B0504030202020204"/>
      <p:regular r:id="rId16"/>
    </p:embeddedFont>
    <p:embeddedFont>
      <p:font typeface="Helvetica Now Light" charset="1" panose="020B040403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png" Type="http://schemas.openxmlformats.org/officeDocument/2006/relationships/image"/><Relationship Id="rId19" Target="../media/image41.pn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png" Type="http://schemas.openxmlformats.org/officeDocument/2006/relationships/image"/><Relationship Id="rId22" Target="../media/image44.png" Type="http://schemas.openxmlformats.org/officeDocument/2006/relationships/image"/><Relationship Id="rId23" Target="../media/image45.png" Type="http://schemas.openxmlformats.org/officeDocument/2006/relationships/image"/><Relationship Id="rId24" Target="../media/image46.png" Type="http://schemas.openxmlformats.org/officeDocument/2006/relationships/image"/><Relationship Id="rId25" Target="../media/image47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12" Target="../media/image58.png" Type="http://schemas.openxmlformats.org/officeDocument/2006/relationships/image"/><Relationship Id="rId13" Target="../media/image59.pn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62.png" Type="http://schemas.openxmlformats.org/officeDocument/2006/relationships/image"/><Relationship Id="rId17" Target="../media/image63.png" Type="http://schemas.openxmlformats.org/officeDocument/2006/relationships/image"/><Relationship Id="rId18" Target="../media/image64.png" Type="http://schemas.openxmlformats.org/officeDocument/2006/relationships/image"/><Relationship Id="rId19" Target="../media/image65.png" Type="http://schemas.openxmlformats.org/officeDocument/2006/relationships/image"/><Relationship Id="rId2" Target="../media/image48.png" Type="http://schemas.openxmlformats.org/officeDocument/2006/relationships/image"/><Relationship Id="rId20" Target="../media/image66.png" Type="http://schemas.openxmlformats.org/officeDocument/2006/relationships/image"/><Relationship Id="rId21" Target="../media/image67.png" Type="http://schemas.openxmlformats.org/officeDocument/2006/relationships/image"/><Relationship Id="rId22" Target="../media/image68.png" Type="http://schemas.openxmlformats.org/officeDocument/2006/relationships/image"/><Relationship Id="rId23" Target="../media/image69.png" Type="http://schemas.openxmlformats.org/officeDocument/2006/relationships/image"/><Relationship Id="rId24" Target="../media/image70.png" Type="http://schemas.openxmlformats.org/officeDocument/2006/relationships/image"/><Relationship Id="rId25" Target="../media/image71.png" Type="http://schemas.openxmlformats.org/officeDocument/2006/relationships/image"/><Relationship Id="rId26" Target="../media/image72.png" Type="http://schemas.openxmlformats.org/officeDocument/2006/relationships/image"/><Relationship Id="rId27" Target="../media/image73.png" Type="http://schemas.openxmlformats.org/officeDocument/2006/relationships/image"/><Relationship Id="rId28" Target="../media/image74.png" Type="http://schemas.openxmlformats.org/officeDocument/2006/relationships/image"/><Relationship Id="rId29" Target="../media/image75.png" Type="http://schemas.openxmlformats.org/officeDocument/2006/relationships/image"/><Relationship Id="rId3" Target="../media/image49.png" Type="http://schemas.openxmlformats.org/officeDocument/2006/relationships/image"/><Relationship Id="rId30" Target="../media/image76.png" Type="http://schemas.openxmlformats.org/officeDocument/2006/relationships/image"/><Relationship Id="rId31" Target="../media/image77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png" Type="http://schemas.openxmlformats.org/officeDocument/2006/relationships/image"/><Relationship Id="rId2" Target="../media/image78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png" Type="http://schemas.openxmlformats.org/officeDocument/2006/relationships/image"/><Relationship Id="rId12" Target="../media/image98.png" Type="http://schemas.openxmlformats.org/officeDocument/2006/relationships/image"/><Relationship Id="rId13" Target="../media/image99.png" Type="http://schemas.openxmlformats.org/officeDocument/2006/relationships/image"/><Relationship Id="rId14" Target="../media/image100.png" Type="http://schemas.openxmlformats.org/officeDocument/2006/relationships/image"/><Relationship Id="rId2" Target="../media/image88.png" Type="http://schemas.openxmlformats.org/officeDocument/2006/relationships/image"/><Relationship Id="rId3" Target="../media/image89.png" Type="http://schemas.openxmlformats.org/officeDocument/2006/relationships/image"/><Relationship Id="rId4" Target="../media/image90.png" Type="http://schemas.openxmlformats.org/officeDocument/2006/relationships/image"/><Relationship Id="rId5" Target="../media/image91.pn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Relationship Id="rId8" Target="../media/image94.pn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10.png" Type="http://schemas.openxmlformats.org/officeDocument/2006/relationships/image"/><Relationship Id="rId12" Target="../media/image111.png" Type="http://schemas.openxmlformats.org/officeDocument/2006/relationships/image"/><Relationship Id="rId13" Target="../media/image112.png" Type="http://schemas.openxmlformats.org/officeDocument/2006/relationships/image"/><Relationship Id="rId2" Target="../media/image101.png" Type="http://schemas.openxmlformats.org/officeDocument/2006/relationships/image"/><Relationship Id="rId3" Target="../media/image102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105.png" Type="http://schemas.openxmlformats.org/officeDocument/2006/relationships/image"/><Relationship Id="rId7" Target="../media/image106.png" Type="http://schemas.openxmlformats.org/officeDocument/2006/relationships/image"/><Relationship Id="rId8" Target="../media/image107.pn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png" Type="http://schemas.openxmlformats.org/officeDocument/2006/relationships/image"/><Relationship Id="rId12" Target="../media/image123.png" Type="http://schemas.openxmlformats.org/officeDocument/2006/relationships/image"/><Relationship Id="rId13" Target="../media/image124.png" Type="http://schemas.openxmlformats.org/officeDocument/2006/relationships/image"/><Relationship Id="rId14" Target="../media/image125.png" Type="http://schemas.openxmlformats.org/officeDocument/2006/relationships/image"/><Relationship Id="rId15" Target="../media/image126.png" Type="http://schemas.openxmlformats.org/officeDocument/2006/relationships/image"/><Relationship Id="rId16" Target="../media/image127.png" Type="http://schemas.openxmlformats.org/officeDocument/2006/relationships/image"/><Relationship Id="rId17" Target="../media/image128.png" Type="http://schemas.openxmlformats.org/officeDocument/2006/relationships/image"/><Relationship Id="rId18" Target="../media/image129.png" Type="http://schemas.openxmlformats.org/officeDocument/2006/relationships/image"/><Relationship Id="rId2" Target="../media/image113.png" Type="http://schemas.openxmlformats.org/officeDocument/2006/relationships/image"/><Relationship Id="rId3" Target="../media/image114.png" Type="http://schemas.openxmlformats.org/officeDocument/2006/relationships/image"/><Relationship Id="rId4" Target="../media/image115.png" Type="http://schemas.openxmlformats.org/officeDocument/2006/relationships/image"/><Relationship Id="rId5" Target="../media/image116.png" Type="http://schemas.openxmlformats.org/officeDocument/2006/relationships/image"/><Relationship Id="rId6" Target="../media/image117.png" Type="http://schemas.openxmlformats.org/officeDocument/2006/relationships/image"/><Relationship Id="rId7" Target="../media/image118.png" Type="http://schemas.openxmlformats.org/officeDocument/2006/relationships/image"/><Relationship Id="rId8" Target="../media/image119.png" Type="http://schemas.openxmlformats.org/officeDocument/2006/relationships/image"/><Relationship Id="rId9" Target="../media/image1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9601" y="2553725"/>
            <a:ext cx="10482531" cy="236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9"/>
              </a:lnSpc>
            </a:pPr>
            <a:r>
              <a:rPr lang="en-US" b="true" sz="8109" spc="-324">
                <a:solidFill>
                  <a:srgbClr val="1B345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Architectural Blueprint to Facade Renderer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0463" y="4871769"/>
            <a:ext cx="7640808" cy="84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6"/>
              </a:lnSpc>
            </a:pPr>
            <a:r>
              <a:rPr lang="en-US" sz="2461" spc="-24">
                <a:solidFill>
                  <a:srgbClr val="1B345D"/>
                </a:solidFill>
                <a:latin typeface="Helvetica Now"/>
                <a:ea typeface="Helvetica Now"/>
                <a:cs typeface="Helvetica Now"/>
                <a:sym typeface="Helvetica Now"/>
              </a:rPr>
              <a:t>Semantic Layout-to-Facade Image Translation</a:t>
            </a:r>
          </a:p>
          <a:p>
            <a:pPr algn="ctr">
              <a:lnSpc>
                <a:spcPts val="3446"/>
              </a:lnSpc>
            </a:pPr>
            <a:r>
              <a:rPr lang="en-US" sz="2461" spc="-24">
                <a:solidFill>
                  <a:srgbClr val="1B345D"/>
                </a:solidFill>
                <a:latin typeface="Helvetica Now"/>
                <a:ea typeface="Helvetica Now"/>
                <a:cs typeface="Helvetica Now"/>
                <a:sym typeface="Helvetica Now"/>
              </a:rPr>
              <a:t>Using a Conditional Generative Adversarial Network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11724" y="7103235"/>
            <a:ext cx="4589443" cy="4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2" spc="-25" b="true">
                <a:solidFill>
                  <a:srgbClr val="1B64B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Arpit Gupta and Aryan Tiwari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60463" y="7728104"/>
            <a:ext cx="6247650" cy="86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514" spc="-24">
                <a:solidFill>
                  <a:srgbClr val="1B345D"/>
                </a:solidFill>
                <a:latin typeface="Helvetica Now"/>
                <a:ea typeface="Helvetica Now"/>
                <a:cs typeface="Helvetica Now"/>
                <a:sym typeface="Helvetica Now"/>
              </a:rPr>
              <a:t>Department of Computer Science</a:t>
            </a:r>
          </a:p>
          <a:p>
            <a:pPr algn="ctr">
              <a:lnSpc>
                <a:spcPts val="3520"/>
              </a:lnSpc>
            </a:pPr>
            <a:r>
              <a:rPr lang="en-US" sz="2514" spc="-24">
                <a:solidFill>
                  <a:srgbClr val="1B345D"/>
                </a:solidFill>
                <a:latin typeface="Helvetica Now"/>
                <a:ea typeface="Helvetica Now"/>
                <a:cs typeface="Helvetica Now"/>
                <a:sym typeface="Helvetica Now"/>
              </a:rPr>
              <a:t>KIET Deemed to be University, Ghaziabad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54842" y="3640352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8622" y="1924030"/>
            <a:ext cx="4364182" cy="4077631"/>
          </a:xfrm>
          <a:custGeom>
            <a:avLst/>
            <a:gdLst/>
            <a:ahLst/>
            <a:cxnLst/>
            <a:rect r="r" b="b" t="t" l="l"/>
            <a:pathLst>
              <a:path h="4077631" w="4364182">
                <a:moveTo>
                  <a:pt x="0" y="0"/>
                </a:moveTo>
                <a:lnTo>
                  <a:pt x="4364182" y="0"/>
                </a:lnTo>
                <a:lnTo>
                  <a:pt x="436418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01866" y="3640352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7925691"/>
            <a:ext cx="17434852" cy="1934962"/>
          </a:xfrm>
          <a:custGeom>
            <a:avLst/>
            <a:gdLst/>
            <a:ahLst/>
            <a:cxnLst/>
            <a:rect r="r" b="b" t="t" l="l"/>
            <a:pathLst>
              <a:path h="1934962" w="17434852">
                <a:moveTo>
                  <a:pt x="0" y="0"/>
                </a:moveTo>
                <a:lnTo>
                  <a:pt x="17434852" y="0"/>
                </a:lnTo>
                <a:lnTo>
                  <a:pt x="1743485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4039" y="1924030"/>
            <a:ext cx="4218641" cy="4190517"/>
          </a:xfrm>
          <a:custGeom>
            <a:avLst/>
            <a:gdLst/>
            <a:ahLst/>
            <a:cxnLst/>
            <a:rect r="r" b="b" t="t" l="l"/>
            <a:pathLst>
              <a:path h="4190517" w="4218641">
                <a:moveTo>
                  <a:pt x="0" y="0"/>
                </a:moveTo>
                <a:lnTo>
                  <a:pt x="4218641" y="0"/>
                </a:lnTo>
                <a:lnTo>
                  <a:pt x="4218641" y="4190517"/>
                </a:lnTo>
                <a:lnTo>
                  <a:pt x="0" y="41905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16502" y="1648407"/>
            <a:ext cx="4628877" cy="4628877"/>
          </a:xfrm>
          <a:custGeom>
            <a:avLst/>
            <a:gdLst/>
            <a:ahLst/>
            <a:cxnLst/>
            <a:rect r="r" b="b" t="t" l="l"/>
            <a:pathLst>
              <a:path h="4628877" w="4628877">
                <a:moveTo>
                  <a:pt x="0" y="0"/>
                </a:moveTo>
                <a:lnTo>
                  <a:pt x="4628877" y="0"/>
                </a:lnTo>
                <a:lnTo>
                  <a:pt x="4628877" y="4628877"/>
                </a:lnTo>
                <a:lnTo>
                  <a:pt x="0" y="4628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6688" y="415749"/>
            <a:ext cx="6311057" cy="86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5568" spc="-165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Problem Statement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4039" y="6373369"/>
            <a:ext cx="4714875" cy="107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semantic layouts define structure</a:t>
            </a:r>
          </a:p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and placement but not materials,</a:t>
            </a:r>
          </a:p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texture, or appearance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82745" y="3157341"/>
            <a:ext cx="3054594" cy="160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323" spc="-99">
                <a:solidFill>
                  <a:srgbClr val="F5F5F5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Image-to-Image Translation</a:t>
            </a:r>
          </a:p>
          <a:p>
            <a:pPr algn="ctr">
              <a:lnSpc>
                <a:spcPts val="4320"/>
              </a:lnSpc>
            </a:pPr>
            <a:r>
              <a:rPr lang="en-US" b="true" sz="3323" spc="-99">
                <a:solidFill>
                  <a:srgbClr val="F5F5F5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7633" y="6373369"/>
            <a:ext cx="4714875" cy="107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image-to-image translation learns</a:t>
            </a:r>
          </a:p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 mapping from structured layouts</a:t>
            </a:r>
          </a:p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to realistic facade photographs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71227" y="6373369"/>
            <a:ext cx="4714875" cy="107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manual visualisation of facade</a:t>
            </a:r>
          </a:p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appearance requires additional</a:t>
            </a:r>
          </a:p>
          <a:p>
            <a:pPr algn="l">
              <a:lnSpc>
                <a:spcPts val="2924"/>
              </a:lnSpc>
            </a:pPr>
            <a:r>
              <a:rPr lang="en-US" sz="2250" spc="-67" b="true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time and design effort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08280" y="8312317"/>
            <a:ext cx="13533566" cy="96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b="true" sz="3146" spc="-93">
                <a:solidFill>
                  <a:srgbClr val="1B6FC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Goal: </a:t>
            </a:r>
            <a:r>
              <a:rPr lang="en-US" b="true" sz="3146" spc="-93">
                <a:solidFill>
                  <a:srgbClr val="1D35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generate a plausible facade image from a semantic layout (conceptual visualisation, not construction-ready output)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714" y="619558"/>
            <a:ext cx="7706687" cy="74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5695" spc="-169" b="true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Objectives and Dataset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924030"/>
            <a:ext cx="8290852" cy="1508614"/>
          </a:xfrm>
          <a:custGeom>
            <a:avLst/>
            <a:gdLst/>
            <a:ahLst/>
            <a:cxnLst/>
            <a:rect r="r" b="b" t="t" l="l"/>
            <a:pathLst>
              <a:path h="1508614" w="8290852">
                <a:moveTo>
                  <a:pt x="0" y="0"/>
                </a:moveTo>
                <a:lnTo>
                  <a:pt x="8290852" y="0"/>
                </a:lnTo>
                <a:lnTo>
                  <a:pt x="8290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6883" y="2136810"/>
            <a:ext cx="7527727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67" b="true">
                <a:solidFill>
                  <a:srgbClr val="2478D8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Input:</a:t>
            </a:r>
            <a:r>
              <a:rPr lang="en-US" sz="2250" spc="-67" b="true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semantic facade annotation (256 x 256 RGB)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5781" y="3904228"/>
            <a:ext cx="7768828" cy="195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67" b="true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The CMP Facade Database provides semantic annotations paired with real facade photographs.</a:t>
            </a:r>
          </a:p>
          <a:p>
            <a:pPr algn="l">
              <a:lnSpc>
                <a:spcPts val="3149"/>
              </a:lnSpc>
            </a:pPr>
            <a:r>
              <a:rPr lang="en-US" sz="2250" spc="-67" b="true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Paired data is essential because the model learns a direct layout-to photo mapping and the L1 loss compares against the paired target.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6635716"/>
            <a:ext cx="1542230" cy="2372241"/>
          </a:xfrm>
          <a:custGeom>
            <a:avLst/>
            <a:gdLst/>
            <a:ahLst/>
            <a:cxnLst/>
            <a:rect r="r" b="b" t="t" l="l"/>
            <a:pathLst>
              <a:path h="2372241" w="1542230">
                <a:moveTo>
                  <a:pt x="0" y="0"/>
                </a:moveTo>
                <a:lnTo>
                  <a:pt x="1542230" y="0"/>
                </a:lnTo>
                <a:lnTo>
                  <a:pt x="154223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9110" y="7707051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57866" y="6635716"/>
            <a:ext cx="1531292" cy="2372241"/>
          </a:xfrm>
          <a:custGeom>
            <a:avLst/>
            <a:gdLst/>
            <a:ahLst/>
            <a:cxnLst/>
            <a:rect r="r" b="b" t="t" l="l"/>
            <a:pathLst>
              <a:path h="2372241" w="1531292">
                <a:moveTo>
                  <a:pt x="0" y="0"/>
                </a:moveTo>
                <a:lnTo>
                  <a:pt x="1531292" y="0"/>
                </a:lnTo>
                <a:lnTo>
                  <a:pt x="153129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65838" y="7238555"/>
            <a:ext cx="1071523" cy="115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"/>
              </a:lnSpc>
            </a:pPr>
            <a:r>
              <a:rPr lang="en-US" sz="1341" spc="13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Locate photographs and annotation files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259464" y="7707051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96976" y="6635716"/>
            <a:ext cx="1531292" cy="2372241"/>
          </a:xfrm>
          <a:custGeom>
            <a:avLst/>
            <a:gdLst/>
            <a:ahLst/>
            <a:cxnLst/>
            <a:rect r="r" b="b" t="t" l="l"/>
            <a:pathLst>
              <a:path h="2372241" w="1531292">
                <a:moveTo>
                  <a:pt x="0" y="0"/>
                </a:moveTo>
                <a:lnTo>
                  <a:pt x="1531292" y="0"/>
                </a:lnTo>
                <a:lnTo>
                  <a:pt x="153129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35777" y="7371665"/>
            <a:ext cx="1171515" cy="57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 spc="11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Match corresponding pairs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998574" y="7707051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17330" y="6635716"/>
            <a:ext cx="1750048" cy="2372241"/>
          </a:xfrm>
          <a:custGeom>
            <a:avLst/>
            <a:gdLst/>
            <a:ahLst/>
            <a:cxnLst/>
            <a:rect r="r" b="b" t="t" l="l"/>
            <a:pathLst>
              <a:path h="2372241" w="1750048">
                <a:moveTo>
                  <a:pt x="0" y="0"/>
                </a:moveTo>
                <a:lnTo>
                  <a:pt x="1750048" y="0"/>
                </a:lnTo>
                <a:lnTo>
                  <a:pt x="175004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90801" y="7238555"/>
            <a:ext cx="1183311" cy="115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"/>
              </a:lnSpc>
            </a:pPr>
            <a:r>
              <a:rPr lang="en-US" sz="1341" spc="13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Preprocess, resize to</a:t>
            </a:r>
          </a:p>
          <a:p>
            <a:pPr algn="ctr">
              <a:lnSpc>
                <a:spcPts val="1877"/>
              </a:lnSpc>
            </a:pPr>
            <a:r>
              <a:rPr lang="en-US" sz="1341" spc="13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256 x 256</a:t>
            </a:r>
          </a:p>
          <a:p>
            <a:pPr algn="ctr">
              <a:lnSpc>
                <a:spcPts val="1877"/>
              </a:lnSpc>
            </a:pPr>
            <a:r>
              <a:rPr lang="en-US" sz="1341" spc="13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and normalise to [-1, 1]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748622" y="7707051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56440" y="6635716"/>
            <a:ext cx="1760986" cy="2372241"/>
          </a:xfrm>
          <a:custGeom>
            <a:avLst/>
            <a:gdLst/>
            <a:ahLst/>
            <a:cxnLst/>
            <a:rect r="r" b="b" t="t" l="l"/>
            <a:pathLst>
              <a:path h="2372241" w="1760986">
                <a:moveTo>
                  <a:pt x="0" y="0"/>
                </a:moveTo>
                <a:lnTo>
                  <a:pt x="1760986" y="0"/>
                </a:lnTo>
                <a:lnTo>
                  <a:pt x="176098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93096" y="7122307"/>
            <a:ext cx="1284339" cy="133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603" spc="15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Split</a:t>
            </a:r>
          </a:p>
          <a:p>
            <a:pPr algn="ctr">
              <a:lnSpc>
                <a:spcPts val="2244"/>
              </a:lnSpc>
            </a:pPr>
            <a:r>
              <a:rPr lang="en-US" sz="1603" spc="15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80% train / 10% validation / 10% test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706488" y="2350377"/>
            <a:ext cx="9373694" cy="6657580"/>
          </a:xfrm>
          <a:custGeom>
            <a:avLst/>
            <a:gdLst/>
            <a:ahLst/>
            <a:cxnLst/>
            <a:rect r="r" b="b" t="t" l="l"/>
            <a:pathLst>
              <a:path h="6657580" w="9373694">
                <a:moveTo>
                  <a:pt x="0" y="0"/>
                </a:moveTo>
                <a:lnTo>
                  <a:pt x="9373694" y="0"/>
                </a:lnTo>
                <a:lnTo>
                  <a:pt x="9373694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44000" y="3421712"/>
            <a:ext cx="3926670" cy="4296271"/>
          </a:xfrm>
          <a:custGeom>
            <a:avLst/>
            <a:gdLst/>
            <a:ahLst/>
            <a:cxnLst/>
            <a:rect r="r" b="b" t="t" l="l"/>
            <a:pathLst>
              <a:path h="4296271" w="3926670">
                <a:moveTo>
                  <a:pt x="0" y="0"/>
                </a:moveTo>
                <a:lnTo>
                  <a:pt x="3926670" y="0"/>
                </a:lnTo>
                <a:lnTo>
                  <a:pt x="392667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27237" y="2961836"/>
            <a:ext cx="2310069" cy="328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2"/>
              </a:lnSpc>
            </a:pPr>
            <a:r>
              <a:rPr lang="en-US" b="true" sz="1916" spc="-57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Semantic annotation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50601" y="7798782"/>
            <a:ext cx="1638699" cy="30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5"/>
              </a:lnSpc>
            </a:pPr>
            <a:r>
              <a:rPr lang="en-US" b="true" sz="1839" spc="-54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256 x 256 RGB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059732" y="5356674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716000" y="3421712"/>
            <a:ext cx="4145426" cy="4296271"/>
          </a:xfrm>
          <a:custGeom>
            <a:avLst/>
            <a:gdLst/>
            <a:ahLst/>
            <a:cxnLst/>
            <a:rect r="r" b="b" t="t" l="l"/>
            <a:pathLst>
              <a:path h="4296271" w="4145426">
                <a:moveTo>
                  <a:pt x="0" y="0"/>
                </a:moveTo>
                <a:lnTo>
                  <a:pt x="4145426" y="0"/>
                </a:lnTo>
                <a:lnTo>
                  <a:pt x="414542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517842" y="2961836"/>
            <a:ext cx="2406911" cy="328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2"/>
              </a:lnSpc>
            </a:pPr>
            <a:r>
              <a:rPr lang="en-US" b="true" sz="1916" spc="-57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Matching photograph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58319" y="7798782"/>
            <a:ext cx="1638699" cy="30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5"/>
              </a:lnSpc>
            </a:pPr>
            <a:r>
              <a:rPr lang="en-US" b="true" sz="1839" spc="-54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256 x 256 RGB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6883" y="2663940"/>
            <a:ext cx="7527727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67" b="true">
                <a:solidFill>
                  <a:srgbClr val="2478D8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Output:</a:t>
            </a:r>
            <a:r>
              <a:rPr lang="en-US" sz="2250" spc="-67" b="true">
                <a:solidFill>
                  <a:srgbClr val="1F39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generated facade photograph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201" y="7461281"/>
            <a:ext cx="756111" cy="38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193" spc="11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Download</a:t>
            </a:r>
          </a:p>
          <a:p>
            <a:pPr algn="ctr">
              <a:lnSpc>
                <a:spcPts val="1670"/>
              </a:lnSpc>
            </a:pPr>
            <a:r>
              <a:rPr lang="en-US" sz="1193" spc="11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dataset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2292" y="605165"/>
            <a:ext cx="6670038" cy="83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6"/>
              </a:lnSpc>
            </a:pPr>
            <a:r>
              <a:rPr lang="en-US" sz="5512" spc="-53" b="true">
                <a:solidFill>
                  <a:srgbClr val="08265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4518" y="1472559"/>
            <a:ext cx="10447423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 spc="-22" b="true">
                <a:solidFill>
                  <a:srgbClr val="08265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 conditional GAN framework that maps semantic layouts to realistic facades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995365"/>
            <a:ext cx="3062584" cy="2798589"/>
          </a:xfrm>
          <a:custGeom>
            <a:avLst/>
            <a:gdLst/>
            <a:ahLst/>
            <a:cxnLst/>
            <a:rect r="r" b="b" t="t" l="l"/>
            <a:pathLst>
              <a:path h="2798589" w="3062584">
                <a:moveTo>
                  <a:pt x="0" y="0"/>
                </a:moveTo>
                <a:lnTo>
                  <a:pt x="3062584" y="0"/>
                </a:lnTo>
                <a:lnTo>
                  <a:pt x="306258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883" y="2635898"/>
            <a:ext cx="2196703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205" spc="-21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Semantic Layout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259464" y="406669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96976" y="1924030"/>
            <a:ext cx="6540804" cy="4722618"/>
          </a:xfrm>
          <a:custGeom>
            <a:avLst/>
            <a:gdLst/>
            <a:ahLst/>
            <a:cxnLst/>
            <a:rect r="r" b="b" t="t" l="l"/>
            <a:pathLst>
              <a:path h="4722618" w="6540804">
                <a:moveTo>
                  <a:pt x="0" y="0"/>
                </a:moveTo>
                <a:lnTo>
                  <a:pt x="6540804" y="0"/>
                </a:lnTo>
                <a:lnTo>
                  <a:pt x="654080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96976" y="1924030"/>
            <a:ext cx="6540804" cy="863627"/>
          </a:xfrm>
          <a:custGeom>
            <a:avLst/>
            <a:gdLst/>
            <a:ahLst/>
            <a:cxnLst/>
            <a:rect r="r" b="b" t="t" l="l"/>
            <a:pathLst>
              <a:path h="863627" w="6540804">
                <a:moveTo>
                  <a:pt x="0" y="0"/>
                </a:moveTo>
                <a:lnTo>
                  <a:pt x="6540804" y="0"/>
                </a:lnTo>
                <a:lnTo>
                  <a:pt x="6540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13227" y="2271049"/>
            <a:ext cx="2250281" cy="34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21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U-Net Generator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13227" y="3445795"/>
            <a:ext cx="2250281" cy="34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45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Bottleneck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134488" y="3421712"/>
            <a:ext cx="5665780" cy="3017228"/>
          </a:xfrm>
          <a:custGeom>
            <a:avLst/>
            <a:gdLst/>
            <a:ahLst/>
            <a:cxnLst/>
            <a:rect r="r" b="b" t="t" l="l"/>
            <a:pathLst>
              <a:path h="3017228" w="5665780">
                <a:moveTo>
                  <a:pt x="0" y="0"/>
                </a:moveTo>
                <a:lnTo>
                  <a:pt x="5665780" y="0"/>
                </a:lnTo>
                <a:lnTo>
                  <a:pt x="5665780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27211" y="6814116"/>
            <a:ext cx="1503688" cy="58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7"/>
              </a:lnSpc>
            </a:pP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U-Net </a:t>
            </a:r>
            <a:r>
              <a:rPr lang="en-US" sz="1205" spc="-24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e</a:t>
            </a: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ncoder</a:t>
            </a:r>
          </a:p>
          <a:p>
            <a:pPr algn="ctr">
              <a:lnSpc>
                <a:spcPts val="1567"/>
              </a:lnSpc>
            </a:pP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compresses the</a:t>
            </a:r>
          </a:p>
          <a:p>
            <a:pPr algn="ctr">
              <a:lnSpc>
                <a:spcPts val="1567"/>
              </a:lnSpc>
            </a:pP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layout into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77819" y="6814116"/>
            <a:ext cx="1130744" cy="58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7"/>
              </a:lnSpc>
            </a:pP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Bottleneck compact</a:t>
            </a:r>
          </a:p>
          <a:p>
            <a:pPr algn="ctr">
              <a:lnSpc>
                <a:spcPts val="1567"/>
              </a:lnSpc>
            </a:pPr>
            <a:r>
              <a:rPr lang="en-US" sz="1205" spc="-24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r</a:t>
            </a: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29699" y="6814116"/>
            <a:ext cx="1276652" cy="58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7"/>
              </a:lnSpc>
            </a:pP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U-Net </a:t>
            </a:r>
            <a:r>
              <a:rPr lang="en-US" sz="1205" spc="-24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e</a:t>
            </a: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ncoder</a:t>
            </a:r>
          </a:p>
          <a:p>
            <a:pPr algn="ctr">
              <a:lnSpc>
                <a:spcPts val="1567"/>
              </a:lnSpc>
            </a:pP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reconstructs the</a:t>
            </a:r>
          </a:p>
          <a:p>
            <a:pPr algn="ctr">
              <a:lnSpc>
                <a:spcPts val="1567"/>
              </a:lnSpc>
            </a:pPr>
            <a:r>
              <a:rPr lang="en-US" sz="1205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facade image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03883" y="6815207"/>
            <a:ext cx="1437115" cy="848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378" spc="-27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Skip connections</a:t>
            </a:r>
          </a:p>
          <a:p>
            <a:pPr algn="ctr">
              <a:lnSpc>
                <a:spcPts val="1791"/>
              </a:lnSpc>
            </a:pPr>
            <a:r>
              <a:rPr lang="en-US" sz="1378" spc="-27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c</a:t>
            </a:r>
            <a:r>
              <a:rPr lang="en-US" sz="1378" spc="-27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arry spatial detail from </a:t>
            </a:r>
            <a:r>
              <a:rPr lang="en-US" sz="1378" spc="-27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a</a:t>
            </a:r>
            <a:r>
              <a:rPr lang="en-US" sz="1378" spc="-27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ncoder</a:t>
            </a:r>
          </a:p>
          <a:p>
            <a:pPr algn="ctr">
              <a:lnSpc>
                <a:spcPts val="1791"/>
              </a:lnSpc>
            </a:pPr>
            <a:r>
              <a:rPr lang="en-US" sz="1378" spc="-27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to decoder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26574" y="7925691"/>
            <a:ext cx="8072096" cy="1934962"/>
          </a:xfrm>
          <a:custGeom>
            <a:avLst/>
            <a:gdLst/>
            <a:ahLst/>
            <a:cxnLst/>
            <a:rect r="r" b="b" t="t" l="l"/>
            <a:pathLst>
              <a:path h="1934962" w="8072096">
                <a:moveTo>
                  <a:pt x="0" y="0"/>
                </a:moveTo>
                <a:lnTo>
                  <a:pt x="8072096" y="0"/>
                </a:lnTo>
                <a:lnTo>
                  <a:pt x="807209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76883" y="8466824"/>
            <a:ext cx="7313414" cy="91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Semantic Layout → U-Net Generator → Generated Facade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PatchGAN Discriminator receives the layout concatenated with either the real photograph or the generated facade.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008086" y="3848060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45598" y="2569017"/>
            <a:ext cx="3062584" cy="2798589"/>
          </a:xfrm>
          <a:custGeom>
            <a:avLst/>
            <a:gdLst/>
            <a:ahLst/>
            <a:cxnLst/>
            <a:rect r="r" b="b" t="t" l="l"/>
            <a:pathLst>
              <a:path h="2798589" w="3062584">
                <a:moveTo>
                  <a:pt x="0" y="0"/>
                </a:moveTo>
                <a:lnTo>
                  <a:pt x="3062584" y="0"/>
                </a:lnTo>
                <a:lnTo>
                  <a:pt x="306258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849570" y="2298421"/>
            <a:ext cx="2250281" cy="30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spc="-19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Generated Facade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278488" y="3848060"/>
            <a:ext cx="1093780" cy="448211"/>
          </a:xfrm>
          <a:custGeom>
            <a:avLst/>
            <a:gdLst/>
            <a:ahLst/>
            <a:cxnLst/>
            <a:rect r="r" b="b" t="t" l="l"/>
            <a:pathLst>
              <a:path h="448211" w="1093780">
                <a:moveTo>
                  <a:pt x="0" y="0"/>
                </a:moveTo>
                <a:lnTo>
                  <a:pt x="1093780" y="0"/>
                </a:lnTo>
                <a:lnTo>
                  <a:pt x="109378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142574" y="2776725"/>
            <a:ext cx="2625072" cy="2798589"/>
          </a:xfrm>
          <a:custGeom>
            <a:avLst/>
            <a:gdLst/>
            <a:ahLst/>
            <a:cxnLst/>
            <a:rect r="r" b="b" t="t" l="l"/>
            <a:pathLst>
              <a:path h="2798589" w="2625072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519672" y="3140673"/>
            <a:ext cx="1848445" cy="68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21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PatchGAN</a:t>
            </a:r>
          </a:p>
          <a:p>
            <a:pPr algn="ctr">
              <a:lnSpc>
                <a:spcPts val="2700"/>
              </a:lnSpc>
            </a:pPr>
            <a:r>
              <a:rPr lang="en-US" sz="2250" spc="-21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Discriminator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03851" y="4227055"/>
            <a:ext cx="1843119" cy="77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8"/>
              </a:lnSpc>
            </a:pPr>
            <a:r>
              <a:rPr lang="en-US" sz="1390" spc="-27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judges realism of local image patches, conditioned on</a:t>
            </a:r>
          </a:p>
          <a:p>
            <a:pPr algn="ctr">
              <a:lnSpc>
                <a:spcPts val="1668"/>
              </a:lnSpc>
            </a:pPr>
            <a:r>
              <a:rPr lang="en-US" sz="1390" spc="-27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the layout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537952" y="3848060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743164" y="3767971"/>
            <a:ext cx="1580555" cy="96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205" spc="-4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Real /</a:t>
            </a:r>
          </a:p>
          <a:p>
            <a:pPr algn="ctr">
              <a:lnSpc>
                <a:spcPts val="2646"/>
              </a:lnSpc>
            </a:pPr>
            <a:r>
              <a:rPr lang="en-US" sz="2205" spc="-44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F</a:t>
            </a:r>
            <a:r>
              <a:rPr lang="en-US" sz="2205" spc="-4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ake</a:t>
            </a:r>
          </a:p>
          <a:p>
            <a:pPr algn="ctr">
              <a:lnSpc>
                <a:spcPts val="2646"/>
              </a:lnSpc>
            </a:pPr>
            <a:r>
              <a:rPr lang="en-US" sz="2205" spc="-4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(per patch)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184708" y="513803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403464" y="5990729"/>
            <a:ext cx="2406316" cy="229572"/>
          </a:xfrm>
          <a:custGeom>
            <a:avLst/>
            <a:gdLst/>
            <a:ahLst/>
            <a:cxnLst/>
            <a:rect r="r" b="b" t="t" l="l"/>
            <a:pathLst>
              <a:path h="229572" w="2406316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403464" y="5356674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580086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923818" y="599072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100440" y="5356674"/>
            <a:ext cx="229694" cy="3224936"/>
          </a:xfrm>
          <a:custGeom>
            <a:avLst/>
            <a:gdLst/>
            <a:ahLst/>
            <a:cxnLst/>
            <a:rect r="r" b="b" t="t" l="l"/>
            <a:pathLst>
              <a:path h="3224936" w="229694">
                <a:moveTo>
                  <a:pt x="0" y="0"/>
                </a:moveTo>
                <a:lnTo>
                  <a:pt x="229694" y="0"/>
                </a:lnTo>
                <a:lnTo>
                  <a:pt x="22969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455110" y="8352038"/>
            <a:ext cx="875024" cy="229572"/>
          </a:xfrm>
          <a:custGeom>
            <a:avLst/>
            <a:gdLst/>
            <a:ahLst/>
            <a:cxnLst/>
            <a:rect r="r" b="b" t="t" l="l"/>
            <a:pathLst>
              <a:path h="229572" w="875024">
                <a:moveTo>
                  <a:pt x="0" y="0"/>
                </a:moveTo>
                <a:lnTo>
                  <a:pt x="875024" y="0"/>
                </a:lnTo>
                <a:lnTo>
                  <a:pt x="87502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320622" y="6854356"/>
            <a:ext cx="4364182" cy="2798589"/>
          </a:xfrm>
          <a:custGeom>
            <a:avLst/>
            <a:gdLst/>
            <a:ahLst/>
            <a:cxnLst/>
            <a:rect r="r" b="b" t="t" l="l"/>
            <a:pathLst>
              <a:path h="2798589" w="4364182">
                <a:moveTo>
                  <a:pt x="0" y="0"/>
                </a:moveTo>
                <a:lnTo>
                  <a:pt x="4364182" y="0"/>
                </a:lnTo>
                <a:lnTo>
                  <a:pt x="436418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278488" y="7062064"/>
            <a:ext cx="229694" cy="2590881"/>
          </a:xfrm>
          <a:custGeom>
            <a:avLst/>
            <a:gdLst/>
            <a:ahLst/>
            <a:cxnLst/>
            <a:rect r="r" b="b" t="t" l="l"/>
            <a:pathLst>
              <a:path h="2590881" w="229694">
                <a:moveTo>
                  <a:pt x="0" y="0"/>
                </a:moveTo>
                <a:lnTo>
                  <a:pt x="229694" y="0"/>
                </a:lnTo>
                <a:lnTo>
                  <a:pt x="22969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3953688" y="7327873"/>
            <a:ext cx="979806" cy="17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6"/>
              </a:lnSpc>
            </a:pPr>
            <a:r>
              <a:rPr lang="en-US" sz="1230" spc="-2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Real Facade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528440" y="7499343"/>
            <a:ext cx="1760986" cy="1934962"/>
          </a:xfrm>
          <a:custGeom>
            <a:avLst/>
            <a:gdLst/>
            <a:ahLst/>
            <a:cxnLst/>
            <a:rect r="r" b="b" t="t" l="l"/>
            <a:pathLst>
              <a:path h="1934962" w="1760986">
                <a:moveTo>
                  <a:pt x="0" y="0"/>
                </a:moveTo>
                <a:lnTo>
                  <a:pt x="1760986" y="0"/>
                </a:lnTo>
                <a:lnTo>
                  <a:pt x="176098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497244" y="7499343"/>
            <a:ext cx="1968804" cy="1934962"/>
          </a:xfrm>
          <a:custGeom>
            <a:avLst/>
            <a:gdLst/>
            <a:ahLst/>
            <a:cxnLst/>
            <a:rect r="r" b="b" t="t" l="l"/>
            <a:pathLst>
              <a:path h="1934962" w="1968804">
                <a:moveTo>
                  <a:pt x="0" y="0"/>
                </a:moveTo>
                <a:lnTo>
                  <a:pt x="1968804" y="0"/>
                </a:lnTo>
                <a:lnTo>
                  <a:pt x="196880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268976" y="8570678"/>
            <a:ext cx="3270402" cy="218640"/>
          </a:xfrm>
          <a:custGeom>
            <a:avLst/>
            <a:gdLst/>
            <a:ahLst/>
            <a:cxnLst/>
            <a:rect r="r" b="b" t="t" l="l"/>
            <a:pathLst>
              <a:path h="218640" w="3270402">
                <a:moveTo>
                  <a:pt x="0" y="0"/>
                </a:moveTo>
                <a:lnTo>
                  <a:pt x="3270402" y="0"/>
                </a:lnTo>
                <a:lnTo>
                  <a:pt x="327040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6475273" y="6448801"/>
            <a:ext cx="1580555" cy="96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205" spc="-4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feedback</a:t>
            </a:r>
          </a:p>
          <a:p>
            <a:pPr algn="ctr">
              <a:lnSpc>
                <a:spcPts val="2646"/>
              </a:lnSpc>
            </a:pPr>
            <a:r>
              <a:rPr lang="en-US" sz="2205" spc="-4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trains the</a:t>
            </a:r>
          </a:p>
          <a:p>
            <a:pPr algn="ctr">
              <a:lnSpc>
                <a:spcPts val="2646"/>
              </a:lnSpc>
            </a:pPr>
            <a:r>
              <a:rPr lang="en-US" sz="2205" spc="-44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generator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22406" y="2963848"/>
            <a:ext cx="2250281" cy="34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45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Decoder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30836" y="2963848"/>
            <a:ext cx="2250281" cy="34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45">
                <a:solidFill>
                  <a:srgbClr val="082656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Encoder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40953" y="6427841"/>
            <a:ext cx="2544961" cy="34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21">
                <a:solidFill>
                  <a:srgbClr val="082656"/>
                </a:solidFill>
                <a:latin typeface="Helvetica Now"/>
                <a:ea typeface="Helvetica Now"/>
                <a:cs typeface="Helvetica Now"/>
                <a:sym typeface="Helvetica Now"/>
              </a:rPr>
              <a:t>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3051" y="515497"/>
            <a:ext cx="11272999" cy="928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2"/>
              </a:lnSpc>
            </a:pPr>
            <a:r>
              <a:rPr lang="en-US" sz="5501" spc="-163" b="true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Methodology and Training Process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350377"/>
            <a:ext cx="1760986" cy="874559"/>
          </a:xfrm>
          <a:custGeom>
            <a:avLst/>
            <a:gdLst/>
            <a:ahLst/>
            <a:cxnLst/>
            <a:rect r="r" b="b" t="t" l="l"/>
            <a:pathLst>
              <a:path h="874559" w="1760986">
                <a:moveTo>
                  <a:pt x="0" y="0"/>
                </a:moveTo>
                <a:lnTo>
                  <a:pt x="1760986" y="0"/>
                </a:lnTo>
                <a:lnTo>
                  <a:pt x="176098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29864" y="2485266"/>
            <a:ext cx="373636" cy="4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707" spc="-80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2995365"/>
            <a:ext cx="1760986" cy="1727254"/>
          </a:xfrm>
          <a:custGeom>
            <a:avLst/>
            <a:gdLst/>
            <a:ahLst/>
            <a:cxnLst/>
            <a:rect r="r" b="b" t="t" l="l"/>
            <a:pathLst>
              <a:path h="1727254" w="1760986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2108" y="3484634"/>
            <a:ext cx="843784" cy="6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1862" spc="-55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Paired</a:t>
            </a:r>
          </a:p>
          <a:p>
            <a:pPr algn="ctr">
              <a:lnSpc>
                <a:spcPts val="2793"/>
              </a:lnSpc>
            </a:pPr>
            <a:r>
              <a:rPr lang="en-US" b="true" sz="1862" spc="-55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Dataset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3196" y="2350377"/>
            <a:ext cx="1760986" cy="874559"/>
          </a:xfrm>
          <a:custGeom>
            <a:avLst/>
            <a:gdLst/>
            <a:ahLst/>
            <a:cxnLst/>
            <a:rect r="r" b="b" t="t" l="l"/>
            <a:pathLst>
              <a:path h="874559" w="1760986">
                <a:moveTo>
                  <a:pt x="0" y="0"/>
                </a:moveTo>
                <a:lnTo>
                  <a:pt x="1760986" y="0"/>
                </a:lnTo>
                <a:lnTo>
                  <a:pt x="176098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3196" y="2995365"/>
            <a:ext cx="1760986" cy="1727254"/>
          </a:xfrm>
          <a:custGeom>
            <a:avLst/>
            <a:gdLst/>
            <a:ahLst/>
            <a:cxnLst/>
            <a:rect r="r" b="b" t="t" l="l"/>
            <a:pathLst>
              <a:path h="1727254" w="1760986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51165" y="3660169"/>
            <a:ext cx="1520308" cy="3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b="true" sz="1775" spc="-52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Preprocessing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957866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79818" y="2350377"/>
            <a:ext cx="1760986" cy="874559"/>
          </a:xfrm>
          <a:custGeom>
            <a:avLst/>
            <a:gdLst/>
            <a:ahLst/>
            <a:cxnLst/>
            <a:rect r="r" b="b" t="t" l="l"/>
            <a:pathLst>
              <a:path h="874559" w="1760986">
                <a:moveTo>
                  <a:pt x="0" y="0"/>
                </a:moveTo>
                <a:lnTo>
                  <a:pt x="1760986" y="0"/>
                </a:lnTo>
                <a:lnTo>
                  <a:pt x="176098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79818" y="2995365"/>
            <a:ext cx="1760986" cy="1727254"/>
          </a:xfrm>
          <a:custGeom>
            <a:avLst/>
            <a:gdLst/>
            <a:ahLst/>
            <a:cxnLst/>
            <a:rect r="r" b="b" t="t" l="l"/>
            <a:pathLst>
              <a:path h="1727254" w="1760986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49631" y="3484634"/>
            <a:ext cx="1118925" cy="6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1862" spc="-55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Generator Prediction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134488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56440" y="2350377"/>
            <a:ext cx="1760986" cy="874559"/>
          </a:xfrm>
          <a:custGeom>
            <a:avLst/>
            <a:gdLst/>
            <a:ahLst/>
            <a:cxnLst/>
            <a:rect r="r" b="b" t="t" l="l"/>
            <a:pathLst>
              <a:path h="874559" w="1760986">
                <a:moveTo>
                  <a:pt x="0" y="0"/>
                </a:moveTo>
                <a:lnTo>
                  <a:pt x="1760986" y="0"/>
                </a:lnTo>
                <a:lnTo>
                  <a:pt x="176098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56440" y="2995365"/>
            <a:ext cx="1760986" cy="1727254"/>
          </a:xfrm>
          <a:custGeom>
            <a:avLst/>
            <a:gdLst/>
            <a:ahLst/>
            <a:cxnLst/>
            <a:rect r="r" b="b" t="t" l="l"/>
            <a:pathLst>
              <a:path h="1727254" w="1760986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44321" y="3484634"/>
            <a:ext cx="1469374" cy="6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1862" spc="-55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Discriminator Evaluation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311110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44000" y="2350377"/>
            <a:ext cx="1750048" cy="874559"/>
          </a:xfrm>
          <a:custGeom>
            <a:avLst/>
            <a:gdLst/>
            <a:ahLst/>
            <a:cxnLst/>
            <a:rect r="r" b="b" t="t" l="l"/>
            <a:pathLst>
              <a:path h="874559" w="1750048">
                <a:moveTo>
                  <a:pt x="0" y="0"/>
                </a:moveTo>
                <a:lnTo>
                  <a:pt x="1750048" y="0"/>
                </a:lnTo>
                <a:lnTo>
                  <a:pt x="175004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44000" y="2995365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350603" y="3484634"/>
            <a:ext cx="1226106" cy="6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1862" spc="-55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Loss Calculation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487732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320622" y="2350377"/>
            <a:ext cx="1750048" cy="874559"/>
          </a:xfrm>
          <a:custGeom>
            <a:avLst/>
            <a:gdLst/>
            <a:ahLst/>
            <a:cxnLst/>
            <a:rect r="r" b="b" t="t" l="l"/>
            <a:pathLst>
              <a:path h="874559" w="1750048">
                <a:moveTo>
                  <a:pt x="0" y="0"/>
                </a:moveTo>
                <a:lnTo>
                  <a:pt x="1750048" y="0"/>
                </a:lnTo>
                <a:lnTo>
                  <a:pt x="175004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032837" y="2515811"/>
            <a:ext cx="373987" cy="3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b="true" sz="2300" spc="-68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06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320622" y="2995365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395525" y="3573933"/>
            <a:ext cx="1607356" cy="59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b="true" sz="1598" spc="-47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Backpropagation and Optimisation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664354" y="364035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497244" y="2350377"/>
            <a:ext cx="1968804" cy="874559"/>
          </a:xfrm>
          <a:custGeom>
            <a:avLst/>
            <a:gdLst/>
            <a:ahLst/>
            <a:cxnLst/>
            <a:rect r="r" b="b" t="t" l="l"/>
            <a:pathLst>
              <a:path h="874559" w="1968804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497244" y="2995365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819938" y="3484634"/>
            <a:ext cx="1259093" cy="6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1862" spc="-55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Checkpoint Selection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059732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673866" y="2350377"/>
            <a:ext cx="1968804" cy="874559"/>
          </a:xfrm>
          <a:custGeom>
            <a:avLst/>
            <a:gdLst/>
            <a:ahLst/>
            <a:cxnLst/>
            <a:rect r="r" b="b" t="t" l="l"/>
            <a:pathLst>
              <a:path h="874559" w="1968804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673866" y="2995365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110636" y="3484634"/>
            <a:ext cx="1154149" cy="6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1862" spc="-55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Final</a:t>
            </a:r>
          </a:p>
          <a:p>
            <a:pPr algn="ctr">
              <a:lnSpc>
                <a:spcPts val="2793"/>
              </a:lnSpc>
            </a:pPr>
            <a:r>
              <a:rPr lang="en-US" b="true" sz="1862" spc="-55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Evaluation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5236354" y="364035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3259464" y="5356674"/>
            <a:ext cx="11769072" cy="1508614"/>
          </a:xfrm>
          <a:custGeom>
            <a:avLst/>
            <a:gdLst/>
            <a:ahLst/>
            <a:cxnLst/>
            <a:rect r="r" b="b" t="t" l="l"/>
            <a:pathLst>
              <a:path h="1508614" w="11769072">
                <a:moveTo>
                  <a:pt x="0" y="0"/>
                </a:moveTo>
                <a:lnTo>
                  <a:pt x="11769072" y="0"/>
                </a:lnTo>
                <a:lnTo>
                  <a:pt x="11769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3763119" y="5819279"/>
            <a:ext cx="1727240" cy="51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b="true" sz="3111" spc="-92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Objective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5654842" y="5564382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122280" y="5526040"/>
            <a:ext cx="461492" cy="104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2"/>
              </a:lnSpc>
            </a:pPr>
            <a:r>
              <a:rPr lang="en-US" b="true" sz="6073" spc="-180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49981" y="6086021"/>
            <a:ext cx="356185" cy="60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8"/>
              </a:lnSpc>
            </a:pPr>
            <a:r>
              <a:rPr lang="en-US" b="true" sz="3584" spc="-106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09991" y="5526040"/>
            <a:ext cx="461492" cy="104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2"/>
              </a:lnSpc>
            </a:pPr>
            <a:r>
              <a:rPr lang="en-US" b="true" sz="6073" spc="-180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305327" y="6086021"/>
            <a:ext cx="1012800" cy="60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8"/>
              </a:lnSpc>
            </a:pPr>
            <a:r>
              <a:rPr lang="en-US" b="true" sz="3584" spc="-106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GAN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59618" y="5526040"/>
            <a:ext cx="444817" cy="104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2"/>
              </a:lnSpc>
            </a:pPr>
            <a:r>
              <a:rPr lang="en-US" b="true" sz="6073" spc="-180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+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78777" y="5560604"/>
            <a:ext cx="1266960" cy="99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5"/>
              </a:lnSpc>
            </a:pPr>
            <a:r>
              <a:rPr lang="en-US" b="true" sz="5889" spc="-175">
                <a:solidFill>
                  <a:srgbClr val="1F7CD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100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658812" y="5526040"/>
            <a:ext cx="461492" cy="104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2"/>
              </a:lnSpc>
            </a:pPr>
            <a:r>
              <a:rPr lang="en-US" b="true" sz="6073" spc="-180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426574" y="7280704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02917" y="7771397"/>
            <a:ext cx="2570502" cy="126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b="true" sz="2488" spc="-74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GAN loss pushes outputs to look realistic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4572000" y="7280704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5261725" y="7771397"/>
            <a:ext cx="3071463" cy="126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b="true" sz="2488" spc="-74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L1 loss keeps output close to the paired ground-truth photo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8925244" y="7280704"/>
            <a:ext cx="4145426" cy="2153601"/>
          </a:xfrm>
          <a:custGeom>
            <a:avLst/>
            <a:gdLst/>
            <a:ahLst/>
            <a:cxnLst/>
            <a:rect r="r" b="b" t="t" l="l"/>
            <a:pathLst>
              <a:path h="2153601" w="4145426">
                <a:moveTo>
                  <a:pt x="0" y="0"/>
                </a:moveTo>
                <a:lnTo>
                  <a:pt x="4145426" y="0"/>
                </a:lnTo>
                <a:lnTo>
                  <a:pt x="414542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9447074" y="7771676"/>
            <a:ext cx="3062168" cy="126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</a:pPr>
            <a:r>
              <a:rPr lang="en-US" b="true" sz="2478" spc="-73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Discriminator learns to separate real pairs from generated pairs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3059732" y="7280704"/>
            <a:ext cx="4582938" cy="2153601"/>
          </a:xfrm>
          <a:custGeom>
            <a:avLst/>
            <a:gdLst/>
            <a:ahLst/>
            <a:cxnLst/>
            <a:rect r="r" b="b" t="t" l="l"/>
            <a:pathLst>
              <a:path h="2153601" w="4582938">
                <a:moveTo>
                  <a:pt x="0" y="0"/>
                </a:moveTo>
                <a:lnTo>
                  <a:pt x="4582938" y="0"/>
                </a:lnTo>
                <a:lnTo>
                  <a:pt x="458293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3409952" y="7771397"/>
            <a:ext cx="3907151" cy="126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b="true" sz="2488" spc="-74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Best generator checkpoint chosen by lowest validation L1 loss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874593" y="5526040"/>
            <a:ext cx="422585" cy="104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2"/>
              </a:lnSpc>
            </a:pPr>
            <a:r>
              <a:rPr lang="en-US" b="true" sz="6073" spc="-180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x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639431" y="2515811"/>
            <a:ext cx="373987" cy="3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b="true" sz="2300" spc="-68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533400" y="2515811"/>
            <a:ext cx="373987" cy="3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b="true" sz="2300" spc="-68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08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442728" y="2515811"/>
            <a:ext cx="373987" cy="3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b="true" sz="2300" spc="-68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03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256329" y="2515811"/>
            <a:ext cx="373987" cy="3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b="true" sz="2300" spc="-68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07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272814" y="2515811"/>
            <a:ext cx="373987" cy="3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b="true" sz="2300" spc="-68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82556" y="2515811"/>
            <a:ext cx="373987" cy="3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b="true" sz="2300" spc="-68">
                <a:solidFill>
                  <a:srgbClr val="F6F6F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121813" y="5526040"/>
            <a:ext cx="444817" cy="104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2"/>
              </a:lnSpc>
            </a:pPr>
            <a:r>
              <a:rPr lang="en-US" b="true" sz="6073" spc="-180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=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140159" y="6086021"/>
            <a:ext cx="248891" cy="60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8"/>
              </a:lnSpc>
            </a:pPr>
            <a:r>
              <a:rPr lang="en-US" b="true" sz="3584" spc="-106">
                <a:solidFill>
                  <a:srgbClr val="1C376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08326" y="7542639"/>
            <a:ext cx="7164265" cy="103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6"/>
              </a:lnSpc>
            </a:pPr>
            <a:r>
              <a:rPr lang="en-US" b="true" sz="4036" spc="-161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Implementation and Experimental Setup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924030"/>
            <a:ext cx="3062584" cy="2579949"/>
          </a:xfrm>
          <a:custGeom>
            <a:avLst/>
            <a:gdLst/>
            <a:ahLst/>
            <a:cxnLst/>
            <a:rect r="r" b="b" t="t" l="l"/>
            <a:pathLst>
              <a:path h="2579949" w="3062584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05104" y="2504132"/>
            <a:ext cx="1069230" cy="31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1687" spc="-67">
                <a:solidFill>
                  <a:srgbClr val="1B3A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Framework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78220" y="1924030"/>
            <a:ext cx="3062584" cy="2579949"/>
          </a:xfrm>
          <a:custGeom>
            <a:avLst/>
            <a:gdLst/>
            <a:ahLst/>
            <a:cxnLst/>
            <a:rect r="r" b="b" t="t" l="l"/>
            <a:pathLst>
              <a:path h="2579949" w="3062584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61212" y="2504132"/>
            <a:ext cx="2377588" cy="31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1687" spc="-67">
                <a:solidFill>
                  <a:srgbClr val="1B3A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Generator / Discriminator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36332" y="3026134"/>
            <a:ext cx="2227348" cy="40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b="true" sz="2193" spc="-87">
                <a:solidFill>
                  <a:srgbClr val="197ED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U-Net / PatchGAN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529866" y="1924030"/>
            <a:ext cx="3051646" cy="2579949"/>
          </a:xfrm>
          <a:custGeom>
            <a:avLst/>
            <a:gdLst/>
            <a:ahLst/>
            <a:cxnLst/>
            <a:rect r="r" b="b" t="t" l="l"/>
            <a:pathLst>
              <a:path h="2579949" w="3051646">
                <a:moveTo>
                  <a:pt x="0" y="0"/>
                </a:moveTo>
                <a:lnTo>
                  <a:pt x="3051646" y="0"/>
                </a:lnTo>
                <a:lnTo>
                  <a:pt x="305164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57766" y="3041106"/>
            <a:ext cx="1816841" cy="38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9"/>
              </a:lnSpc>
            </a:pPr>
            <a:r>
              <a:rPr lang="en-US" b="true" sz="2056" spc="-82">
                <a:solidFill>
                  <a:srgbClr val="197ED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256 x 256 RGB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6574" y="4493047"/>
            <a:ext cx="3062584" cy="2372241"/>
          </a:xfrm>
          <a:custGeom>
            <a:avLst/>
            <a:gdLst/>
            <a:ahLst/>
            <a:cxnLst/>
            <a:rect r="r" b="b" t="t" l="l"/>
            <a:pathLst>
              <a:path h="2372241" w="3062584">
                <a:moveTo>
                  <a:pt x="0" y="0"/>
                </a:moveTo>
                <a:lnTo>
                  <a:pt x="3062584" y="0"/>
                </a:lnTo>
                <a:lnTo>
                  <a:pt x="3062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72807" y="5307616"/>
            <a:ext cx="733825" cy="41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2"/>
              </a:lnSpc>
            </a:pPr>
            <a:r>
              <a:rPr lang="en-US" b="true" sz="2239" spc="-89">
                <a:solidFill>
                  <a:srgbClr val="197ED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Adam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4872" y="5808329"/>
            <a:ext cx="1744681" cy="59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502" spc="-60">
                <a:solidFill>
                  <a:srgbClr val="1B3A66"/>
                </a:solidFill>
                <a:latin typeface="Helvetica Now"/>
                <a:ea typeface="Helvetica Now"/>
                <a:cs typeface="Helvetica Now"/>
                <a:sym typeface="Helvetica Now"/>
              </a:rPr>
              <a:t>learning rate 0.0002</a:t>
            </a:r>
          </a:p>
          <a:p>
            <a:pPr algn="ctr">
              <a:lnSpc>
                <a:spcPts val="2404"/>
              </a:lnSpc>
            </a:pPr>
            <a:r>
              <a:rPr lang="en-US" sz="1502" spc="-60">
                <a:solidFill>
                  <a:srgbClr val="1B3A66"/>
                </a:solidFill>
                <a:latin typeface="Helvetica Now"/>
                <a:ea typeface="Helvetica Now"/>
                <a:cs typeface="Helvetica Now"/>
                <a:sym typeface="Helvetica Now"/>
              </a:rPr>
              <a:t>betə1 0.5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478220" y="4493047"/>
            <a:ext cx="3062584" cy="2372241"/>
          </a:xfrm>
          <a:custGeom>
            <a:avLst/>
            <a:gdLst/>
            <a:ahLst/>
            <a:cxnLst/>
            <a:rect r="r" b="b" t="t" l="l"/>
            <a:pathLst>
              <a:path h="2372241" w="3062584">
                <a:moveTo>
                  <a:pt x="0" y="0"/>
                </a:moveTo>
                <a:lnTo>
                  <a:pt x="3062584" y="0"/>
                </a:lnTo>
                <a:lnTo>
                  <a:pt x="3062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29866" y="4493047"/>
            <a:ext cx="3051646" cy="2372241"/>
          </a:xfrm>
          <a:custGeom>
            <a:avLst/>
            <a:gdLst/>
            <a:ahLst/>
            <a:cxnLst/>
            <a:rect r="r" b="b" t="t" l="l"/>
            <a:pathLst>
              <a:path h="2372241" w="3051646">
                <a:moveTo>
                  <a:pt x="0" y="0"/>
                </a:moveTo>
                <a:lnTo>
                  <a:pt x="3051646" y="0"/>
                </a:lnTo>
                <a:lnTo>
                  <a:pt x="305164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08144" y="5326856"/>
            <a:ext cx="316086" cy="37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b="true" sz="1942" spc="-77">
                <a:solidFill>
                  <a:srgbClr val="197ED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30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47259" y="5838204"/>
            <a:ext cx="2257679" cy="62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1603" spc="-64">
                <a:solidFill>
                  <a:srgbClr val="1B3A66"/>
                </a:solidFill>
                <a:latin typeface="Helvetica Now"/>
                <a:ea typeface="Helvetica Now"/>
                <a:cs typeface="Helvetica Now"/>
                <a:sym typeface="Helvetica Now"/>
              </a:rPr>
              <a:t>completed epochs to be confirmed from notebook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26574" y="6854356"/>
            <a:ext cx="3062584" cy="2579949"/>
          </a:xfrm>
          <a:custGeom>
            <a:avLst/>
            <a:gdLst/>
            <a:ahLst/>
            <a:cxnLst/>
            <a:rect r="r" b="b" t="t" l="l"/>
            <a:pathLst>
              <a:path h="2579949" w="3062584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04506" y="7966384"/>
            <a:ext cx="2013634" cy="33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b="true" sz="1828" spc="-73">
                <a:solidFill>
                  <a:srgbClr val="197ED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80% / 10% / 10%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478220" y="6854356"/>
            <a:ext cx="3062584" cy="2579949"/>
          </a:xfrm>
          <a:custGeom>
            <a:avLst/>
            <a:gdLst/>
            <a:ahLst/>
            <a:cxnLst/>
            <a:rect r="r" b="b" t="t" l="l"/>
            <a:pathLst>
              <a:path h="2579949" w="3062584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068504" y="7913721"/>
            <a:ext cx="1831738" cy="4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8"/>
              </a:lnSpc>
            </a:pPr>
            <a:r>
              <a:rPr lang="en-US" b="true" sz="2262" spc="-90">
                <a:solidFill>
                  <a:srgbClr val="197ED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MAE and SSIM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570574" y="1924030"/>
            <a:ext cx="8290852" cy="4722618"/>
          </a:xfrm>
          <a:custGeom>
            <a:avLst/>
            <a:gdLst/>
            <a:ahLst/>
            <a:cxnLst/>
            <a:rect r="r" b="b" t="t" l="l"/>
            <a:pathLst>
              <a:path h="4722618" w="8290852">
                <a:moveTo>
                  <a:pt x="0" y="0"/>
                </a:moveTo>
                <a:lnTo>
                  <a:pt x="8290852" y="0"/>
                </a:lnTo>
                <a:lnTo>
                  <a:pt x="829085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171308" y="4778319"/>
            <a:ext cx="1789757" cy="31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1687" spc="-67">
                <a:solidFill>
                  <a:srgbClr val="1B3A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Configured Epochs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33272" y="3528269"/>
            <a:ext cx="1865829" cy="31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687" spc="-67">
                <a:solidFill>
                  <a:srgbClr val="1B3A66"/>
                </a:solidFill>
                <a:latin typeface="Helvetica Now"/>
                <a:ea typeface="Helvetica Now"/>
                <a:cs typeface="Helvetica Now"/>
                <a:sym typeface="Helvetica Now"/>
              </a:rPr>
              <a:t>normalised to [+1, 1]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14022" y="7385182"/>
            <a:ext cx="1740703" cy="30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b="true" sz="1740" spc="-69">
                <a:solidFill>
                  <a:srgbClr val="1B3A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Evaluation Metrics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1995" y="3018948"/>
            <a:ext cx="1035449" cy="4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8"/>
              </a:lnSpc>
            </a:pPr>
            <a:r>
              <a:rPr lang="en-US" b="true" sz="2262" spc="-90">
                <a:solidFill>
                  <a:srgbClr val="197ED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PyTorch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11435" y="4779656"/>
            <a:ext cx="945876" cy="30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b="true" sz="1740" spc="-69">
                <a:solidFill>
                  <a:srgbClr val="1B3A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L1 Weight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8850" y="4779210"/>
            <a:ext cx="921739" cy="30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5"/>
              </a:lnSpc>
            </a:pPr>
            <a:r>
              <a:rPr lang="en-US" b="true" sz="1722" spc="-68">
                <a:solidFill>
                  <a:srgbClr val="1B3A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Optimiser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9306" y="7383844"/>
            <a:ext cx="900826" cy="31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1687" spc="-67">
                <a:solidFill>
                  <a:srgbClr val="1B3A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Data Split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15542" y="2505469"/>
            <a:ext cx="701289" cy="30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b="true" sz="1740" spc="-69">
                <a:solidFill>
                  <a:srgbClr val="1B3A6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Images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47308" y="5307616"/>
            <a:ext cx="474130" cy="41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2"/>
              </a:lnSpc>
            </a:pPr>
            <a:r>
              <a:rPr lang="en-US" b="true" sz="2239" spc="-89">
                <a:solidFill>
                  <a:srgbClr val="197ED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100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705390"/>
            <a:ext cx="5676718" cy="655919"/>
          </a:xfrm>
          <a:custGeom>
            <a:avLst/>
            <a:gdLst/>
            <a:ahLst/>
            <a:cxnLst/>
            <a:rect r="r" b="b" t="t" l="l"/>
            <a:pathLst>
              <a:path h="655919" w="5676718">
                <a:moveTo>
                  <a:pt x="0" y="0"/>
                </a:moveTo>
                <a:lnTo>
                  <a:pt x="5676718" y="0"/>
                </a:lnTo>
                <a:lnTo>
                  <a:pt x="5676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2354" y="1705390"/>
            <a:ext cx="5665780" cy="655919"/>
          </a:xfrm>
          <a:custGeom>
            <a:avLst/>
            <a:gdLst/>
            <a:ahLst/>
            <a:cxnLst/>
            <a:rect r="r" b="b" t="t" l="l"/>
            <a:pathLst>
              <a:path h="655919" w="5665780">
                <a:moveTo>
                  <a:pt x="0" y="0"/>
                </a:moveTo>
                <a:lnTo>
                  <a:pt x="5665780" y="0"/>
                </a:lnTo>
                <a:lnTo>
                  <a:pt x="5665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65952" y="1705390"/>
            <a:ext cx="5895474" cy="655919"/>
          </a:xfrm>
          <a:custGeom>
            <a:avLst/>
            <a:gdLst/>
            <a:ahLst/>
            <a:cxnLst/>
            <a:rect r="r" b="b" t="t" l="l"/>
            <a:pathLst>
              <a:path h="655919" w="5895474">
                <a:moveTo>
                  <a:pt x="0" y="0"/>
                </a:moveTo>
                <a:lnTo>
                  <a:pt x="5895474" y="0"/>
                </a:lnTo>
                <a:lnTo>
                  <a:pt x="5895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6428009"/>
            <a:ext cx="5457962" cy="3432644"/>
          </a:xfrm>
          <a:custGeom>
            <a:avLst/>
            <a:gdLst/>
            <a:ahLst/>
            <a:cxnLst/>
            <a:rect r="r" b="b" t="t" l="l"/>
            <a:pathLst>
              <a:path h="3432644" w="5457962">
                <a:moveTo>
                  <a:pt x="0" y="0"/>
                </a:moveTo>
                <a:lnTo>
                  <a:pt x="5457962" y="0"/>
                </a:lnTo>
                <a:lnTo>
                  <a:pt x="5457962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5754" y="6737776"/>
            <a:ext cx="3470713" cy="32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1862" spc="-37" b="true">
                <a:solidFill>
                  <a:srgbClr val="0F2C6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Quantitative evaluation metrics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7062064"/>
            <a:ext cx="2625072" cy="2590881"/>
          </a:xfrm>
          <a:custGeom>
            <a:avLst/>
            <a:gdLst/>
            <a:ahLst/>
            <a:cxnLst/>
            <a:rect r="r" b="b" t="t" l="l"/>
            <a:pathLst>
              <a:path h="2590881" w="2625072">
                <a:moveTo>
                  <a:pt x="0" y="0"/>
                </a:moveTo>
                <a:lnTo>
                  <a:pt x="2625072" y="0"/>
                </a:lnTo>
                <a:lnTo>
                  <a:pt x="262507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40708" y="7052539"/>
            <a:ext cx="2625072" cy="2590881"/>
          </a:xfrm>
          <a:custGeom>
            <a:avLst/>
            <a:gdLst/>
            <a:ahLst/>
            <a:cxnLst/>
            <a:rect r="r" b="b" t="t" l="l"/>
            <a:pathLst>
              <a:path h="2590881" w="2625072">
                <a:moveTo>
                  <a:pt x="0" y="0"/>
                </a:moveTo>
                <a:lnTo>
                  <a:pt x="2625072" y="0"/>
                </a:lnTo>
                <a:lnTo>
                  <a:pt x="262507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54842" y="6428009"/>
            <a:ext cx="12206584" cy="3432644"/>
          </a:xfrm>
          <a:custGeom>
            <a:avLst/>
            <a:gdLst/>
            <a:ahLst/>
            <a:cxnLst/>
            <a:rect r="r" b="b" t="t" l="l"/>
            <a:pathLst>
              <a:path h="3432644" w="12206584">
                <a:moveTo>
                  <a:pt x="0" y="0"/>
                </a:moveTo>
                <a:lnTo>
                  <a:pt x="12206584" y="0"/>
                </a:lnTo>
                <a:lnTo>
                  <a:pt x="12206584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0291" r="0" b="-4029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5275" y="2507341"/>
            <a:ext cx="3590866" cy="3566927"/>
          </a:xfrm>
          <a:custGeom>
            <a:avLst/>
            <a:gdLst/>
            <a:ahLst/>
            <a:cxnLst/>
            <a:rect r="r" b="b" t="t" l="l"/>
            <a:pathLst>
              <a:path h="3566927" w="3590866">
                <a:moveTo>
                  <a:pt x="0" y="0"/>
                </a:moveTo>
                <a:lnTo>
                  <a:pt x="3590866" y="0"/>
                </a:lnTo>
                <a:lnTo>
                  <a:pt x="3590866" y="3566928"/>
                </a:lnTo>
                <a:lnTo>
                  <a:pt x="0" y="35669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44478" y="2522844"/>
            <a:ext cx="3609775" cy="3609775"/>
          </a:xfrm>
          <a:custGeom>
            <a:avLst/>
            <a:gdLst/>
            <a:ahLst/>
            <a:cxnLst/>
            <a:rect r="r" b="b" t="t" l="l"/>
            <a:pathLst>
              <a:path h="3609775" w="3609775">
                <a:moveTo>
                  <a:pt x="0" y="0"/>
                </a:moveTo>
                <a:lnTo>
                  <a:pt x="3609775" y="0"/>
                </a:lnTo>
                <a:lnTo>
                  <a:pt x="3609775" y="3609774"/>
                </a:lnTo>
                <a:lnTo>
                  <a:pt x="0" y="36097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38609" y="2485001"/>
            <a:ext cx="3661308" cy="3611607"/>
          </a:xfrm>
          <a:custGeom>
            <a:avLst/>
            <a:gdLst/>
            <a:ahLst/>
            <a:cxnLst/>
            <a:rect r="r" b="b" t="t" l="l"/>
            <a:pathLst>
              <a:path h="3611607" w="3661308">
                <a:moveTo>
                  <a:pt x="0" y="0"/>
                </a:moveTo>
                <a:lnTo>
                  <a:pt x="3661308" y="0"/>
                </a:lnTo>
                <a:lnTo>
                  <a:pt x="3661308" y="3611608"/>
                </a:lnTo>
                <a:lnTo>
                  <a:pt x="0" y="36116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27461" y="6929046"/>
            <a:ext cx="5006930" cy="2727585"/>
          </a:xfrm>
          <a:custGeom>
            <a:avLst/>
            <a:gdLst/>
            <a:ahLst/>
            <a:cxnLst/>
            <a:rect r="r" b="b" t="t" l="l"/>
            <a:pathLst>
              <a:path h="2727585" w="5006930">
                <a:moveTo>
                  <a:pt x="0" y="0"/>
                </a:moveTo>
                <a:lnTo>
                  <a:pt x="5006930" y="0"/>
                </a:lnTo>
                <a:lnTo>
                  <a:pt x="5006930" y="2727585"/>
                </a:lnTo>
                <a:lnTo>
                  <a:pt x="0" y="2727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77316" y="6995960"/>
            <a:ext cx="4822601" cy="2643024"/>
          </a:xfrm>
          <a:custGeom>
            <a:avLst/>
            <a:gdLst/>
            <a:ahLst/>
            <a:cxnLst/>
            <a:rect r="r" b="b" t="t" l="l"/>
            <a:pathLst>
              <a:path h="2643024" w="4822601">
                <a:moveTo>
                  <a:pt x="0" y="0"/>
                </a:moveTo>
                <a:lnTo>
                  <a:pt x="4822601" y="0"/>
                </a:lnTo>
                <a:lnTo>
                  <a:pt x="4822601" y="2643025"/>
                </a:lnTo>
                <a:lnTo>
                  <a:pt x="0" y="2643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73138" y="1858063"/>
            <a:ext cx="4983086" cy="32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1862" spc="-37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Generated prediction from the trained 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36694" y="6603655"/>
            <a:ext cx="2058516" cy="32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1862" spc="-37" b="true">
                <a:solidFill>
                  <a:srgbClr val="0F2C6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Training loss curve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600" y="634611"/>
            <a:ext cx="9718143" cy="73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7"/>
              </a:lnSpc>
            </a:pPr>
            <a:r>
              <a:rPr lang="en-US" sz="5607" spc="-167" b="true">
                <a:solidFill>
                  <a:srgbClr val="0F2C6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Results and Model Evaluation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8924" y="1858063"/>
            <a:ext cx="2915424" cy="32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1862" spc="-37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Input semantic annotation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89352" y="1858063"/>
            <a:ext cx="3653883" cy="32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1862" spc="-37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Ground-truth facade photograph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3737" y="8182559"/>
            <a:ext cx="1174790" cy="55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5"/>
              </a:lnSpc>
            </a:pPr>
            <a:r>
              <a:rPr lang="en-US" sz="3103" spc="-62">
                <a:solidFill>
                  <a:srgbClr val="0F2C60"/>
                </a:solidFill>
                <a:latin typeface="Helvetica Now"/>
                <a:ea typeface="Helvetica Now"/>
                <a:cs typeface="Helvetica Now"/>
                <a:sym typeface="Helvetica Now"/>
              </a:rPr>
              <a:t>0.1871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79489" y="8163509"/>
            <a:ext cx="1250156" cy="55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5"/>
              </a:lnSpc>
            </a:pPr>
            <a:r>
              <a:rPr lang="en-US" sz="3103" spc="-62">
                <a:solidFill>
                  <a:srgbClr val="0F2C60"/>
                </a:solidFill>
                <a:latin typeface="Helvetica Now"/>
                <a:ea typeface="Helvetica Now"/>
                <a:cs typeface="Helvetica Now"/>
                <a:sym typeface="Helvetica Now"/>
              </a:rPr>
              <a:t>0.1456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57561" y="7490818"/>
            <a:ext cx="582751" cy="32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1862" spc="-37">
                <a:solidFill>
                  <a:srgbClr val="0F2C6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SSIM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6475" y="7490818"/>
            <a:ext cx="529313" cy="32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1862" spc="-37">
                <a:solidFill>
                  <a:srgbClr val="0F2C6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MAE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2729" y="575045"/>
            <a:ext cx="12305267" cy="83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0"/>
              </a:lnSpc>
            </a:pPr>
            <a:r>
              <a:rPr lang="en-US" sz="5607" spc="-167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Limitations and Future Improvements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705390"/>
            <a:ext cx="6114230" cy="8155262"/>
          </a:xfrm>
          <a:custGeom>
            <a:avLst/>
            <a:gdLst/>
            <a:ahLst/>
            <a:cxnLst/>
            <a:rect r="r" b="b" t="t" l="l"/>
            <a:pathLst>
              <a:path h="8155262" w="6114230">
                <a:moveTo>
                  <a:pt x="0" y="0"/>
                </a:moveTo>
                <a:lnTo>
                  <a:pt x="6114230" y="0"/>
                </a:lnTo>
                <a:lnTo>
                  <a:pt x="6114230" y="8155262"/>
                </a:lnTo>
                <a:lnTo>
                  <a:pt x="0" y="8155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11110" y="1705390"/>
            <a:ext cx="5665780" cy="1300906"/>
          </a:xfrm>
          <a:custGeom>
            <a:avLst/>
            <a:gdLst/>
            <a:ahLst/>
            <a:cxnLst/>
            <a:rect r="r" b="b" t="t" l="l"/>
            <a:pathLst>
              <a:path h="1300906" w="5665780">
                <a:moveTo>
                  <a:pt x="0" y="0"/>
                </a:moveTo>
                <a:lnTo>
                  <a:pt x="5665780" y="0"/>
                </a:lnTo>
                <a:lnTo>
                  <a:pt x="5665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06603" y="2085658"/>
            <a:ext cx="2057852" cy="55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b="true" sz="3181" spc="-94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Limitations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311110" y="2776725"/>
            <a:ext cx="5665780" cy="7083928"/>
          </a:xfrm>
          <a:custGeom>
            <a:avLst/>
            <a:gdLst/>
            <a:ahLst/>
            <a:cxnLst/>
            <a:rect r="r" b="b" t="t" l="l"/>
            <a:pathLst>
              <a:path h="7083928" w="5665780">
                <a:moveTo>
                  <a:pt x="0" y="0"/>
                </a:moveTo>
                <a:lnTo>
                  <a:pt x="5665780" y="0"/>
                </a:lnTo>
                <a:lnTo>
                  <a:pt x="5665780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95989" y="3183570"/>
            <a:ext cx="4237772" cy="72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021" spc="-60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Dataset uses semantic annotations, not real CAD blueprints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748622" y="4066699"/>
            <a:ext cx="5009512" cy="229572"/>
          </a:xfrm>
          <a:custGeom>
            <a:avLst/>
            <a:gdLst/>
            <a:ahLst/>
            <a:cxnLst/>
            <a:rect r="r" b="b" t="t" l="l"/>
            <a:pathLst>
              <a:path h="229572" w="5009512">
                <a:moveTo>
                  <a:pt x="0" y="0"/>
                </a:moveTo>
                <a:lnTo>
                  <a:pt x="5009512" y="0"/>
                </a:lnTo>
                <a:lnTo>
                  <a:pt x="500951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96102" y="4403498"/>
            <a:ext cx="4226539" cy="72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021" spc="-60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Output quality depends on diversity and quality of paired data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748622" y="5356674"/>
            <a:ext cx="5009512" cy="218640"/>
          </a:xfrm>
          <a:custGeom>
            <a:avLst/>
            <a:gdLst/>
            <a:ahLst/>
            <a:cxnLst/>
            <a:rect r="r" b="b" t="t" l="l"/>
            <a:pathLst>
              <a:path h="218640" w="5009512">
                <a:moveTo>
                  <a:pt x="0" y="0"/>
                </a:moveTo>
                <a:lnTo>
                  <a:pt x="5009512" y="0"/>
                </a:lnTo>
                <a:lnTo>
                  <a:pt x="500951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93033" y="5668609"/>
            <a:ext cx="4533415" cy="72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021" spc="-60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GAN training can be unstable; outputs may show blur or artefacts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48622" y="6635716"/>
            <a:ext cx="5009512" cy="229572"/>
          </a:xfrm>
          <a:custGeom>
            <a:avLst/>
            <a:gdLst/>
            <a:ahLst/>
            <a:cxnLst/>
            <a:rect r="r" b="b" t="t" l="l"/>
            <a:pathLst>
              <a:path h="229572" w="5009512">
                <a:moveTo>
                  <a:pt x="0" y="0"/>
                </a:moveTo>
                <a:lnTo>
                  <a:pt x="5009512" y="0"/>
                </a:lnTo>
                <a:lnTo>
                  <a:pt x="500951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97213" y="6918659"/>
            <a:ext cx="4115433" cy="72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021" spc="-60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MAE and SSIM do not fully capture realism or architectural usefulness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48622" y="7925691"/>
            <a:ext cx="5009512" cy="218640"/>
          </a:xfrm>
          <a:custGeom>
            <a:avLst/>
            <a:gdLst/>
            <a:ahLst/>
            <a:cxnLst/>
            <a:rect r="r" b="b" t="t" l="l"/>
            <a:pathLst>
              <a:path h="218640" w="5009512">
                <a:moveTo>
                  <a:pt x="0" y="0"/>
                </a:moveTo>
                <a:lnTo>
                  <a:pt x="5009512" y="0"/>
                </a:lnTo>
                <a:lnTo>
                  <a:pt x="500951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93017" y="8198830"/>
            <a:ext cx="4535039" cy="72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021" spc="-60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Outputs are conceptual visualisations, not construction-ready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184708" y="1705390"/>
            <a:ext cx="5676718" cy="1300906"/>
          </a:xfrm>
          <a:custGeom>
            <a:avLst/>
            <a:gdLst/>
            <a:ahLst/>
            <a:cxnLst/>
            <a:rect r="r" b="b" t="t" l="l"/>
            <a:pathLst>
              <a:path h="1300906" w="5676718">
                <a:moveTo>
                  <a:pt x="0" y="0"/>
                </a:moveTo>
                <a:lnTo>
                  <a:pt x="5676718" y="0"/>
                </a:lnTo>
                <a:lnTo>
                  <a:pt x="5676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785071" y="2085658"/>
            <a:ext cx="2313057" cy="55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b="true" sz="3181" spc="-94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Future Work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184708" y="2776725"/>
            <a:ext cx="5676718" cy="7083928"/>
          </a:xfrm>
          <a:custGeom>
            <a:avLst/>
            <a:gdLst/>
            <a:ahLst/>
            <a:cxnLst/>
            <a:rect r="r" b="b" t="t" l="l"/>
            <a:pathLst>
              <a:path h="7083928" w="5676718">
                <a:moveTo>
                  <a:pt x="0" y="0"/>
                </a:moveTo>
                <a:lnTo>
                  <a:pt x="5676718" y="0"/>
                </a:lnTo>
                <a:lnTo>
                  <a:pt x="5676718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601836" y="3183570"/>
            <a:ext cx="4260129" cy="72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021" spc="-60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Expand paired dataset diversity and refine training settings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622220" y="4285339"/>
            <a:ext cx="4801694" cy="218640"/>
          </a:xfrm>
          <a:custGeom>
            <a:avLst/>
            <a:gdLst/>
            <a:ahLst/>
            <a:cxnLst/>
            <a:rect r="r" b="b" t="t" l="l"/>
            <a:pathLst>
              <a:path h="218640" w="4801694">
                <a:moveTo>
                  <a:pt x="0" y="0"/>
                </a:moveTo>
                <a:lnTo>
                  <a:pt x="4801694" y="0"/>
                </a:lnTo>
                <a:lnTo>
                  <a:pt x="480169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598723" y="4840263"/>
            <a:ext cx="4571416" cy="72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021" spc="-60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Add baseline comparisons, perceptual metrics and human evaluation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622220" y="6209369"/>
            <a:ext cx="4801694" cy="229572"/>
          </a:xfrm>
          <a:custGeom>
            <a:avLst/>
            <a:gdLst/>
            <a:ahLst/>
            <a:cxnLst/>
            <a:rect r="r" b="b" t="t" l="l"/>
            <a:pathLst>
              <a:path h="229572" w="4801694">
                <a:moveTo>
                  <a:pt x="0" y="0"/>
                </a:moveTo>
                <a:lnTo>
                  <a:pt x="4801694" y="0"/>
                </a:lnTo>
                <a:lnTo>
                  <a:pt x="4801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598911" y="6710797"/>
            <a:ext cx="4552632" cy="72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2039" spc="-60" b="true">
                <a:solidFill>
                  <a:srgbClr val="0B2959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Build a CAD-to-rendering dataset for a genuine blueprint-to-facade extension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2239" y="500518"/>
            <a:ext cx="9033128" cy="73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512" b="true">
                <a:solidFill>
                  <a:srgbClr val="102D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Conclusion and References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497682"/>
            <a:ext cx="9592450" cy="8362970"/>
          </a:xfrm>
          <a:custGeom>
            <a:avLst/>
            <a:gdLst/>
            <a:ahLst/>
            <a:cxnLst/>
            <a:rect r="r" b="b" t="t" l="l"/>
            <a:pathLst>
              <a:path h="8362970" w="9592450">
                <a:moveTo>
                  <a:pt x="0" y="0"/>
                </a:moveTo>
                <a:lnTo>
                  <a:pt x="9592450" y="0"/>
                </a:lnTo>
                <a:lnTo>
                  <a:pt x="9592450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086" y="1924030"/>
            <a:ext cx="2187560" cy="1300906"/>
          </a:xfrm>
          <a:custGeom>
            <a:avLst/>
            <a:gdLst/>
            <a:ahLst/>
            <a:cxnLst/>
            <a:rect r="r" b="b" t="t" l="l"/>
            <a:pathLst>
              <a:path h="1300906" w="2187560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4965" y="2405671"/>
            <a:ext cx="1127716" cy="28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227" b="true">
                <a:solidFill>
                  <a:srgbClr val="F3F6FA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35611" y="2232138"/>
            <a:ext cx="5228775" cy="64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Semantic layouts capture structure but lack</a:t>
            </a:r>
          </a:p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realistic materials, texture, and appearance.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40708" y="2995365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4086" y="3214004"/>
            <a:ext cx="2187560" cy="1289974"/>
          </a:xfrm>
          <a:custGeom>
            <a:avLst/>
            <a:gdLst/>
            <a:ahLst/>
            <a:cxnLst/>
            <a:rect r="r" b="b" t="t" l="l"/>
            <a:pathLst>
              <a:path h="1289974" w="2187560">
                <a:moveTo>
                  <a:pt x="0" y="0"/>
                </a:moveTo>
                <a:lnTo>
                  <a:pt x="2187560" y="0"/>
                </a:lnTo>
                <a:lnTo>
                  <a:pt x="218756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5955" y="3670781"/>
            <a:ext cx="1313046" cy="28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227" b="true">
                <a:solidFill>
                  <a:srgbClr val="F3F6FA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35483" y="3482187"/>
            <a:ext cx="5241536" cy="64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Pix2Pix-style conditional GAN maps layouts</a:t>
            </a:r>
          </a:p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to realistic facade photographs.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040708" y="4285339"/>
            <a:ext cx="6540804" cy="218640"/>
          </a:xfrm>
          <a:custGeom>
            <a:avLst/>
            <a:gdLst/>
            <a:ahLst/>
            <a:cxnLst/>
            <a:rect r="r" b="b" t="t" l="l"/>
            <a:pathLst>
              <a:path h="218640" w="6540804">
                <a:moveTo>
                  <a:pt x="0" y="0"/>
                </a:moveTo>
                <a:lnTo>
                  <a:pt x="6540804" y="0"/>
                </a:lnTo>
                <a:lnTo>
                  <a:pt x="6540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4086" y="4493047"/>
            <a:ext cx="2187560" cy="1300906"/>
          </a:xfrm>
          <a:custGeom>
            <a:avLst/>
            <a:gdLst/>
            <a:ahLst/>
            <a:cxnLst/>
            <a:rect r="r" b="b" t="t" l="l"/>
            <a:pathLst>
              <a:path h="1300906" w="2187560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09609" y="5005330"/>
            <a:ext cx="1553148" cy="25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1"/>
              </a:lnSpc>
            </a:pPr>
            <a:r>
              <a:rPr lang="en-US" sz="2091" b="true">
                <a:solidFill>
                  <a:srgbClr val="F3F6FA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2597" y="4629600"/>
            <a:ext cx="5530118" cy="96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U-Net generator learns image synthesis from</a:t>
            </a:r>
          </a:p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paired data; PatchGAN discriminator enforces</a:t>
            </a:r>
          </a:p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local realism and sharp details.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040708" y="5783021"/>
            <a:ext cx="6540804" cy="218640"/>
          </a:xfrm>
          <a:custGeom>
            <a:avLst/>
            <a:gdLst/>
            <a:ahLst/>
            <a:cxnLst/>
            <a:rect r="r" b="b" t="t" l="l"/>
            <a:pathLst>
              <a:path h="218640" w="6540804">
                <a:moveTo>
                  <a:pt x="0" y="0"/>
                </a:moveTo>
                <a:lnTo>
                  <a:pt x="6540804" y="0"/>
                </a:lnTo>
                <a:lnTo>
                  <a:pt x="6540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64086" y="5783021"/>
            <a:ext cx="2187560" cy="1289974"/>
          </a:xfrm>
          <a:custGeom>
            <a:avLst/>
            <a:gdLst/>
            <a:ahLst/>
            <a:cxnLst/>
            <a:rect r="r" b="b" t="t" l="l"/>
            <a:pathLst>
              <a:path h="1289974" w="2187560">
                <a:moveTo>
                  <a:pt x="0" y="0"/>
                </a:moveTo>
                <a:lnTo>
                  <a:pt x="2187560" y="0"/>
                </a:lnTo>
                <a:lnTo>
                  <a:pt x="218756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27833" y="6306428"/>
            <a:ext cx="630006" cy="28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227" b="true">
                <a:solidFill>
                  <a:srgbClr val="F3F6FA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30714" y="6132895"/>
            <a:ext cx="5718464" cy="64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Paired semantic layouts and facade</a:t>
            </a:r>
          </a:p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photographs are essential for effective learning.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040708" y="7062064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4086" y="7062064"/>
            <a:ext cx="2187560" cy="1519546"/>
          </a:xfrm>
          <a:custGeom>
            <a:avLst/>
            <a:gdLst/>
            <a:ahLst/>
            <a:cxnLst/>
            <a:rect r="r" b="b" t="t" l="l"/>
            <a:pathLst>
              <a:path h="1519546" w="2187560">
                <a:moveTo>
                  <a:pt x="0" y="0"/>
                </a:moveTo>
                <a:lnTo>
                  <a:pt x="2187560" y="0"/>
                </a:lnTo>
                <a:lnTo>
                  <a:pt x="218756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09913" y="7647129"/>
            <a:ext cx="990758" cy="28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2205" b="true">
                <a:solidFill>
                  <a:srgbClr val="F3F6FA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31670" y="7250187"/>
            <a:ext cx="5622835" cy="96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Produces plausible facade images that reflect structure with realistic appearance, while</a:t>
            </a:r>
          </a:p>
          <a:p>
            <a:pPr algn="l">
              <a:lnSpc>
                <a:spcPts val="2635"/>
              </a:lnSpc>
            </a:pPr>
            <a:r>
              <a:rPr lang="en-US" sz="1882" spc="37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limitations remain in rare styles and fine details.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38205" y="8896920"/>
            <a:ext cx="4785718" cy="99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7517" b="true">
                <a:solidFill>
                  <a:srgbClr val="107CD8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Thank You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226842" y="1705390"/>
            <a:ext cx="6978316" cy="1082267"/>
          </a:xfrm>
          <a:custGeom>
            <a:avLst/>
            <a:gdLst/>
            <a:ahLst/>
            <a:cxnLst/>
            <a:rect r="r" b="b" t="t" l="l"/>
            <a:pathLst>
              <a:path h="1082267" w="6978316">
                <a:moveTo>
                  <a:pt x="0" y="0"/>
                </a:moveTo>
                <a:lnTo>
                  <a:pt x="6978316" y="0"/>
                </a:lnTo>
                <a:lnTo>
                  <a:pt x="6978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721050" y="2103108"/>
            <a:ext cx="213640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7"/>
              </a:lnSpc>
            </a:pPr>
            <a:r>
              <a:rPr lang="en-US" sz="3097" b="true">
                <a:solidFill>
                  <a:srgbClr val="F3F6FA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References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445598" y="2995365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760398" y="3483640"/>
            <a:ext cx="5089922" cy="116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45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Image-to-Image Translation with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Conditional Adversarial Networks.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CVPR 2017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26842" y="4919394"/>
            <a:ext cx="6978316" cy="229572"/>
          </a:xfrm>
          <a:custGeom>
            <a:avLst/>
            <a:gdLst/>
            <a:ahLst/>
            <a:cxnLst/>
            <a:rect r="r" b="b" t="t" l="l"/>
            <a:pathLst>
              <a:path h="229572" w="6978316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45598" y="535667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760398" y="5803567"/>
            <a:ext cx="5089922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45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Generative Adversarial Nets.</a:t>
            </a:r>
          </a:p>
          <a:p>
            <a:pPr algn="l">
              <a:lnSpc>
                <a:spcPts val="3149"/>
              </a:lnSpc>
            </a:pPr>
            <a:r>
              <a:rPr lang="en-US" sz="2250" spc="45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NeurIPS 2014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226842" y="6854356"/>
            <a:ext cx="6978316" cy="218640"/>
          </a:xfrm>
          <a:custGeom>
            <a:avLst/>
            <a:gdLst/>
            <a:ahLst/>
            <a:cxnLst/>
            <a:rect r="r" b="b" t="t" l="l"/>
            <a:pathLst>
              <a:path h="218640" w="6978316">
                <a:moveTo>
                  <a:pt x="0" y="0"/>
                </a:moveTo>
                <a:lnTo>
                  <a:pt x="6978316" y="0"/>
                </a:lnTo>
                <a:lnTo>
                  <a:pt x="697831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445598" y="728070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857182" y="7545211"/>
            <a:ext cx="243022" cy="41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8"/>
              </a:lnSpc>
            </a:pPr>
            <a:r>
              <a:rPr lang="en-US" sz="3128" b="true">
                <a:solidFill>
                  <a:srgbClr val="102D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760398" y="7752545"/>
            <a:ext cx="5089922" cy="156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spc="44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Spatial Pattern Templates for Recognition of Objects with</a:t>
            </a:r>
          </a:p>
          <a:p>
            <a:pPr algn="l">
              <a:lnSpc>
                <a:spcPts val="3118"/>
              </a:lnSpc>
            </a:pPr>
            <a:r>
              <a:rPr lang="en-US" sz="2227" spc="44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Regular Structure.</a:t>
            </a:r>
          </a:p>
          <a:p>
            <a:pPr algn="l">
              <a:lnSpc>
                <a:spcPts val="3118"/>
              </a:lnSpc>
            </a:pPr>
            <a:r>
              <a:rPr lang="en-US" sz="2227" spc="44">
                <a:solidFill>
                  <a:srgbClr val="102D61"/>
                </a:solidFill>
                <a:latin typeface="Helvetica Now"/>
                <a:ea typeface="Helvetica Now"/>
                <a:cs typeface="Helvetica Now"/>
                <a:sym typeface="Helvetica Now"/>
              </a:rPr>
              <a:t>GCPR 2013 (CMP Facade Database)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60398" y="3063052"/>
            <a:ext cx="5089922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45" b="true">
                <a:solidFill>
                  <a:srgbClr val="102D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Isola, Zhu, Zhou, Efros.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760398" y="7325270"/>
            <a:ext cx="5089922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45" b="true">
                <a:solidFill>
                  <a:srgbClr val="102D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Tylecek and Sara.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760398" y="5397482"/>
            <a:ext cx="5089922" cy="38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45" b="true">
                <a:solidFill>
                  <a:srgbClr val="102D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Goodfellow et al.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60637" y="5647545"/>
            <a:ext cx="236114" cy="41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8"/>
              </a:lnSpc>
            </a:pPr>
            <a:r>
              <a:rPr lang="en-US" sz="3128" b="true">
                <a:solidFill>
                  <a:srgbClr val="102D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96196" y="3358297"/>
            <a:ext cx="164995" cy="41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8"/>
              </a:lnSpc>
            </a:pPr>
            <a:r>
              <a:rPr lang="en-US" sz="3128" b="true">
                <a:solidFill>
                  <a:srgbClr val="102D61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DAHZSgqXpXE</dc:identifier>
  <dcterms:modified xsi:type="dcterms:W3CDTF">2011-08-01T06:04:30Z</dcterms:modified>
  <cp:revision>1</cp:revision>
  <dc:title>Blueprint to Facade Renderer</dc:title>
</cp:coreProperties>
</file>